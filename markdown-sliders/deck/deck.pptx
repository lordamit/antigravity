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7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45775" cy="15544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4000" b="1" i="0" u="none">
                <a:solidFill>
                  <a:srgbClr val="FFFFFF"/>
                </a:solidFill>
                <a:latin typeface="Georgia"/>
              </a:rPr>
              <a:t>Building Better Slides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907127" y="3264010"/>
            <a:ext cx="2377440" cy="15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721210"/>
            <a:ext cx="10545775" cy="6400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2200" b="0" i="0" u="none">
                <a:solidFill>
                  <a:srgbClr val="CFC393"/>
                </a:solidFill>
                <a:latin typeface="Georgia"/>
              </a:rPr>
              <a:t>A manifest-driven, layout-aware deck compiler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61290"/>
            <a:ext cx="10545775" cy="4572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1600" b="0" i="1" u="none">
                <a:solidFill>
                  <a:srgbClr val="FFFFFF"/>
                </a:solidFill>
                <a:latin typeface="Georgia"/>
              </a:rPr>
              <a:t>Amit —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91440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r>
              <a:rPr sz="3000" b="1" i="0" u="none">
                <a:solidFill>
                  <a:srgbClr val="006747"/>
                </a:solidFill>
                <a:latin typeface="Georgia"/>
              </a:rP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45775" cy="381762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1800" b="0" i="0" u="none">
                <a:solidFill>
                  <a:srgbClr val="1A231F"/>
                </a:solidFill>
                <a:latin typeface="Georgia"/>
              </a:rPr>
              <a:t>Each slide is its own file. Benefits: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91690"/>
            <a:ext cx="10545775" cy="101727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/>
            <a:r>
              <a:rPr sz="1800">
                <a:solidFill>
                  <a:srgbClr val="006747"/>
                </a:solidFill>
                <a:latin typeface="Georgia"/>
              </a:rPr>
              <a:t>•  </a:t>
            </a:r>
            <a:r>
              <a:rPr sz="1800" b="1" i="0" u="none">
                <a:solidFill>
                  <a:srgbClr val="1A231F"/>
                </a:solidFill>
                <a:latin typeface="Georgia"/>
              </a:rPr>
              <a:t>Reorderable</a:t>
            </a:r>
            <a:r>
              <a:rPr sz="1800" b="0" i="0" u="none">
                <a:solidFill>
                  <a:srgbClr val="1A231F"/>
                </a:solidFill>
                <a:latin typeface="Georgia"/>
              </a:rPr>
              <a:t> — rearrange the manifest list</a:t>
            </a:r>
          </a:p>
          <a:p>
            <a:pPr/>
            <a:r>
              <a:rPr sz="1800">
                <a:solidFill>
                  <a:srgbClr val="006747"/>
                </a:solidFill>
                <a:latin typeface="Georgia"/>
              </a:rPr>
              <a:t>•  </a:t>
            </a:r>
            <a:r>
              <a:rPr sz="1800" b="1" i="0" u="none">
                <a:solidFill>
                  <a:srgbClr val="1A231F"/>
                </a:solidFill>
                <a:latin typeface="Georgia"/>
              </a:rPr>
              <a:t>Reusable</a:t>
            </a:r>
            <a:r>
              <a:rPr sz="1800" b="0" i="0" u="none">
                <a:solidFill>
                  <a:srgbClr val="1A231F"/>
                </a:solidFill>
                <a:latin typeface="Georgia"/>
              </a:rPr>
              <a:t> — drop a slide into another deck</a:t>
            </a:r>
          </a:p>
          <a:p>
            <a:pPr/>
            <a:r>
              <a:rPr sz="1800">
                <a:solidFill>
                  <a:srgbClr val="006747"/>
                </a:solidFill>
                <a:latin typeface="Georgia"/>
              </a:rPr>
              <a:t>•  </a:t>
            </a:r>
            <a:r>
              <a:rPr sz="1800" b="0" i="0" u="none">
                <a:solidFill>
                  <a:srgbClr val="1A231F"/>
                </a:solidFill>
                <a:latin typeface="Georgia"/>
              </a:rPr>
              <a:t>Per-slide </a:t>
            </a:r>
            <a:r>
              <a:rPr sz="1800" b="1" i="0" u="none">
                <a:solidFill>
                  <a:srgbClr val="1A231F"/>
                </a:solidFill>
                <a:latin typeface="Georgia"/>
              </a:rPr>
              <a:t>layouts</a:t>
            </a:r>
            <a:r>
              <a:rPr sz="1800" b="0" i="0" u="none">
                <a:solidFill>
                  <a:srgbClr val="1A231F"/>
                </a:solidFill>
                <a:latin typeface="Georgia"/>
              </a:rPr>
              <a:t> via frontmatter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91440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r>
              <a:rPr sz="3000" b="1" i="0" u="none">
                <a:solidFill>
                  <a:srgbClr val="006747"/>
                </a:solidFill>
                <a:latin typeface="Georgia"/>
              </a:rPr>
              <a:t>Two column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5044287" cy="690372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1800" b="0" i="0" u="none">
                <a:solidFill>
                  <a:srgbClr val="1A231F"/>
                </a:solidFill>
                <a:latin typeface="Georgia"/>
              </a:rPr>
              <a:t>The left region holds normal markdown: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00300"/>
            <a:ext cx="5044287" cy="101727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/>
            <a:r>
              <a:rPr sz="1800">
                <a:solidFill>
                  <a:srgbClr val="006747"/>
                </a:solidFill>
                <a:latin typeface="Georgia"/>
              </a:rPr>
              <a:t>•  </a:t>
            </a:r>
            <a:r>
              <a:rPr sz="1800" b="0" i="0" u="none">
                <a:solidFill>
                  <a:srgbClr val="1A231F"/>
                </a:solidFill>
                <a:latin typeface="Georgia"/>
              </a:rPr>
              <a:t>bullet one</a:t>
            </a:r>
          </a:p>
          <a:p>
            <a:pPr/>
            <a:r>
              <a:rPr sz="1800">
                <a:solidFill>
                  <a:srgbClr val="006747"/>
                </a:solidFill>
                <a:latin typeface="Georgia"/>
              </a:rPr>
              <a:t>•  </a:t>
            </a:r>
            <a:r>
              <a:rPr sz="1800" b="0" i="0" u="none">
                <a:solidFill>
                  <a:srgbClr val="1A231F"/>
                </a:solidFill>
                <a:latin typeface="Georgia"/>
              </a:rPr>
              <a:t>bullet two</a:t>
            </a:r>
          </a:p>
          <a:p>
            <a:pPr/>
            <a:r>
              <a:rPr sz="1800">
                <a:solidFill>
                  <a:srgbClr val="006747"/>
                </a:solidFill>
                <a:latin typeface="Georgia"/>
              </a:rPr>
              <a:t>•  </a:t>
            </a:r>
            <a:r>
              <a:rPr sz="1800" b="0" i="0" u="none">
                <a:solidFill>
                  <a:srgbClr val="1A231F"/>
                </a:solidFill>
                <a:latin typeface="Georgia"/>
              </a:rPr>
              <a:t>bullet three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447" y="1600200"/>
            <a:ext cx="5044287" cy="381762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1800" b="0" i="0" u="none">
                <a:solidFill>
                  <a:srgbClr val="1A231F"/>
                </a:solidFill>
                <a:latin typeface="Georgia"/>
              </a:rPr>
              <a:t>The right region is independent.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2091690"/>
            <a:ext cx="5044287" cy="873252"/>
          </a:xfrm>
          <a:prstGeom prst="rect">
            <a:avLst/>
          </a:prstGeom>
          <a:solidFill>
            <a:srgbClr val="EDEBD1"/>
          </a:solidFill>
          <a:ln>
            <a:noFill/>
          </a:ln>
        </p:spPr>
        <p:txBody>
          <a:bodyPr wrap="square" tIns="54864" bIns="54864">
            <a:spAutoFit/>
          </a:bodyPr>
          <a:lstStyle/>
          <a:p>
            <a:r>
              <a:rPr sz="1800" b="0" i="1" u="none">
                <a:solidFill>
                  <a:srgbClr val="455F69"/>
                </a:solidFill>
                <a:latin typeface="Georgia"/>
              </a:rPr>
              <a:t>A quote sits in a tinted box, not a stripe.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91440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r>
              <a:rPr sz="3000" b="1" i="0" u="none">
                <a:solidFill>
                  <a:srgbClr val="006747"/>
                </a:solidFill>
                <a:latin typeface="Georgia"/>
              </a:rPr>
              <a:t>Big stat callout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45775" cy="146304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/>
            <a:r>
              <a:rPr sz="7200" b="1" i="0" u="none">
                <a:solidFill>
                  <a:srgbClr val="006747"/>
                </a:solidFill>
                <a:latin typeface="Georgia"/>
              </a:rPr>
              <a:t>98%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45775" cy="8229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2200" b="0" i="0" u="none">
                <a:solidFill>
                  <a:srgbClr val="455F69"/>
                </a:solidFill>
                <a:latin typeface="Georgia"/>
              </a:rPr>
              <a:t>of slides rendered without manual layout tweaks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91440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r>
              <a:rPr sz="3000" b="1" i="0" u="none">
                <a:solidFill>
                  <a:srgbClr val="006747"/>
                </a:solidFill>
                <a:latin typeface="Georgia"/>
              </a:rPr>
              <a:t>Image beside text</a:t>
            </a:r>
          </a:p>
        </p:txBody>
      </p:sp>
      <p:pic>
        <p:nvPicPr>
          <p:cNvPr id="3" name="Picture 2" descr="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139" y="1947672"/>
            <a:ext cx="3950208" cy="2962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257800"/>
            <a:ext cx="4998567" cy="3657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1400" b="0" i="1" u="none">
                <a:solidFill>
                  <a:srgbClr val="455F69"/>
                </a:solidFill>
                <a:latin typeface="Georgia"/>
              </a:rPr>
              <a:t>A simple Architecture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4998567" cy="3200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1100" b="0" i="0" u="none">
                <a:solidFill>
                  <a:srgbClr val="455F69"/>
                </a:solidFill>
                <a:latin typeface="Georgia"/>
              </a:rPr>
              <a:t>(photo credit: mdslides deck)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600200"/>
            <a:ext cx="4998567" cy="690372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1800" b="0" i="0" u="none">
                <a:solidFill>
                  <a:srgbClr val="1A231F"/>
                </a:solidFill>
                <a:latin typeface="Georgia"/>
              </a:rPr>
              <a:t>The image resolves relative to </a:t>
            </a:r>
            <a:r>
              <a:rPr sz="1800" b="1" i="0" u="none">
                <a:solidFill>
                  <a:srgbClr val="1A231F"/>
                </a:solidFill>
                <a:latin typeface="Georgia"/>
              </a:rPr>
              <a:t>this slide file</a:t>
            </a:r>
            <a:r>
              <a:rPr sz="1800" b="0" i="0" u="none">
                <a:solidFill>
                  <a:srgbClr val="1A231F"/>
                </a:solidFill>
                <a:latin typeface="Georgia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2400300"/>
            <a:ext cx="4998567" cy="7086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/>
            <a:r>
              <a:rPr sz="1800">
                <a:solidFill>
                  <a:srgbClr val="006747"/>
                </a:solidFill>
                <a:latin typeface="Georgia"/>
              </a:rPr>
              <a:t>•  </a:t>
            </a:r>
            <a:r>
              <a:rPr sz="1800" b="0" i="0" u="none">
                <a:solidFill>
                  <a:srgbClr val="1A231F"/>
                </a:solidFill>
                <a:latin typeface="Georgia"/>
              </a:rPr>
              <a:t>positioned by the layout</a:t>
            </a:r>
          </a:p>
          <a:p>
            <a:pPr/>
            <a:r>
              <a:rPr sz="1800">
                <a:solidFill>
                  <a:srgbClr val="006747"/>
                </a:solidFill>
                <a:latin typeface="Georgia"/>
              </a:rPr>
              <a:t>•  </a:t>
            </a:r>
            <a:r>
              <a:rPr sz="1800" b="0" i="0" u="none">
                <a:solidFill>
                  <a:srgbClr val="1A231F"/>
                </a:solidFill>
                <a:latin typeface="Georgia"/>
              </a:rPr>
              <a:t>text sits alongside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7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45775" cy="4572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1300" b="0" i="0" u="none">
                <a:solidFill>
                  <a:srgbClr val="455F69"/>
                </a:solidFill>
                <a:latin typeface="Georgia"/>
              </a:rPr>
              <a:t>PART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45775" cy="1417319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3400" b="1" i="0" u="none">
                <a:solidFill>
                  <a:srgbClr val="FFFFFF"/>
                </a:solidFill>
                <a:latin typeface="Georgia"/>
              </a:rPr>
              <a:t>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907127" y="3601940"/>
            <a:ext cx="2377440" cy="15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91440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r>
              <a:rPr sz="3000" b="1" i="0" u="none">
                <a:solidFill>
                  <a:srgbClr val="006747"/>
                </a:solidFill>
                <a:latin typeface="Georgia"/>
              </a:rPr>
              <a:t>Rich content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45775" cy="564642"/>
          </a:xfrm>
          <a:prstGeom prst="rect">
            <a:avLst/>
          </a:prstGeom>
          <a:solidFill>
            <a:srgbClr val="EDEBD1"/>
          </a:solidFill>
          <a:ln>
            <a:noFill/>
          </a:ln>
        </p:spPr>
        <p:txBody>
          <a:bodyPr wrap="square" tIns="54864" bIns="54864">
            <a:spAutoFit/>
          </a:bodyPr>
          <a:lstStyle/>
          <a:p>
            <a:r>
              <a:rPr sz="1800" b="0" i="1" u="none">
                <a:solidFill>
                  <a:srgbClr val="455F69"/>
                </a:solidFill>
                <a:latin typeface="Georgia"/>
              </a:rPr>
              <a:t>Good slides are mostly whitespace and one clear idea.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74570"/>
            <a:ext cx="10545775" cy="381762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1800" b="0" i="0" u="none">
                <a:solidFill>
                  <a:srgbClr val="1A231F"/>
                </a:solidFill>
                <a:latin typeface="Georgia"/>
              </a:rPr>
              <a:t>Here is a 'quote'.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66060"/>
            <a:ext cx="10545775" cy="868680"/>
          </a:xfrm>
          <a:prstGeom prst="rect">
            <a:avLst/>
          </a:prstGeom>
          <a:solidFill>
            <a:srgbClr val="EDEBD1"/>
          </a:solidFill>
          <a:ln>
            <a:noFill/>
          </a:ln>
        </p:spPr>
        <p:txBody>
          <a:bodyPr wrap="square" tIns="54864" bIns="54864">
            <a:spAutoFit/>
          </a:bodyPr>
          <a:lstStyle/>
          <a:p>
            <a:r>
              <a:rPr sz="1500">
                <a:solidFill>
                  <a:srgbClr val="1A231F"/>
                </a:solidFill>
                <a:latin typeface="Consolas"/>
              </a:rPr>
              <a:t>def greet(name):</a:t>
            </a:r>
          </a:p>
          <a:p>
            <a:r>
              <a:rPr sz="1500">
                <a:solidFill>
                  <a:srgbClr val="1A231F"/>
                </a:solidFill>
                <a:latin typeface="Consolas"/>
              </a:rPr>
              <a:t>    return f"Hello, {name}!"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3744468"/>
          <a:ext cx="987830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9154"/>
                <a:gridCol w="4939154"/>
              </a:tblGrid>
              <a:tr h="365760">
                <a:tc>
                  <a:txBody>
                    <a:bodyPr/>
                    <a:lstStyle/>
                    <a:p>
                      <a:r>
                        <a:rPr sz="1600" b="1" i="0" u="none">
                          <a:solidFill>
                            <a:srgbClr val="006747"/>
                          </a:solidFill>
                          <a:latin typeface="Georgia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 i="0" u="none">
                          <a:solidFill>
                            <a:srgbClr val="006747"/>
                          </a:solidFill>
                          <a:latin typeface="Georgia"/>
                        </a:rPr>
                        <a:t>Supported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A231F"/>
                          </a:solidFill>
                          <a:latin typeface="Georgia"/>
                        </a:rPr>
                        <a:t>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A231F"/>
                          </a:solidFill>
                          <a:latin typeface="Georgia"/>
                        </a:rP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A231F"/>
                          </a:solidFill>
                          <a:latin typeface="Georgia"/>
                        </a:rPr>
                        <a:t>Code blocks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A231F"/>
                          </a:solidFill>
                          <a:latin typeface="Georgia"/>
                        </a:rP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A231F"/>
                          </a:solidFill>
                          <a:latin typeface="Georgia"/>
                        </a:rPr>
                        <a:t>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A231F"/>
                          </a:solidFill>
                          <a:latin typeface="Georgia"/>
                        </a:rP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usf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3345" y="6126480"/>
            <a:ext cx="101259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7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45775" cy="12801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2800" b="1" i="0" u="none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907127" y="3025471"/>
            <a:ext cx="2377440" cy="15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482671"/>
            <a:ext cx="10545775" cy="6400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2200" b="0" i="0" u="none">
                <a:solidFill>
                  <a:srgbClr val="CFC393"/>
                </a:solidFill>
                <a:latin typeface="Georgia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